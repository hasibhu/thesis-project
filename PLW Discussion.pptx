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57" r:id="rId4"/>
    <p:sldId id="260" r:id="rId5"/>
    <p:sldId id="258" r:id="rId6"/>
    <p:sldId id="259" r:id="rId7"/>
    <p:sldId id="261" r:id="rId8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31"/>
    <p:restoredTop sz="94653"/>
  </p:normalViewPr>
  <p:slideViewPr>
    <p:cSldViewPr snapToGrid="0">
      <p:cViewPr varScale="1">
        <p:scale>
          <a:sx n="113" d="100"/>
          <a:sy n="113" d="100"/>
        </p:scale>
        <p:origin x="208" y="8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E2D15-F00F-C241-19D6-D25CCD116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AF4461-E26D-73BF-7CD8-036BE964C4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639FD-7020-8454-2E2F-6F76C652C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8FD85-18FD-6040-A648-D0B350E207AB}" type="datetimeFigureOut">
              <a:rPr lang="en-DE" smtClean="0"/>
              <a:t>25.11.25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2228D-1898-546F-2ABB-AD5BE8548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1FF68-9A7F-2EF9-D046-665ED6E53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566F-94AD-874F-B294-435E7FFB946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97450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9E594-2CF7-CD31-4B47-5D94A158F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C38BD-03AB-8EF0-BE32-C544632C9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8CC67-A5EA-5108-221B-FA8BDFA24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8FD85-18FD-6040-A648-D0B350E207AB}" type="datetimeFigureOut">
              <a:rPr lang="en-DE" smtClean="0"/>
              <a:t>25.11.25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BBD50-E1DD-7457-9C9B-D98F98543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CA65E-A3A0-6A3C-DAC8-3275DF579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566F-94AD-874F-B294-435E7FFB946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70655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DE827-056A-AE20-032B-880250F28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CCB752-8A6C-7ABC-C80B-0BE90DCEE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E0BD9-47D1-55E4-E5F3-CFBC334EE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8FD85-18FD-6040-A648-D0B350E207AB}" type="datetimeFigureOut">
              <a:rPr lang="en-DE" smtClean="0"/>
              <a:t>25.11.25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71159-34DB-2E1D-B162-E77F24780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E013B-762B-9F9E-03FA-E49578A50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566F-94AD-874F-B294-435E7FFB946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24644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A8EA4-4E24-EF23-E14E-98BE64C87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6C945-AF0C-0AA7-F593-F24599DEA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1874DE-7778-81BD-6F16-C0C28F60A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A3BAD5-DFEA-3CEA-6793-B02EC64D6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8FD85-18FD-6040-A648-D0B350E207AB}" type="datetimeFigureOut">
              <a:rPr lang="en-DE" smtClean="0"/>
              <a:t>25.11.25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505A88-D337-17F3-6963-3BF49526A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F3E9CD-1DCA-F3E6-DBB3-90A48DABE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566F-94AD-874F-B294-435E7FFB946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86032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0D028-EF1C-D82F-4642-D1EA0A114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978229-D70A-F33E-3BBC-984D16130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F267E0-2283-E926-4AE1-CED14E5209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15E1EA-DF97-32D2-7DCB-EC7DE3E0F3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B12030-C1BD-AD6A-626E-B1D48E9972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423C5D-B912-F105-B302-DFE9C2210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8FD85-18FD-6040-A648-D0B350E207AB}" type="datetimeFigureOut">
              <a:rPr lang="en-DE" smtClean="0"/>
              <a:t>25.11.25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48BC0D-BC2B-BD7E-DD4D-A596B4A68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29CC65-CF17-F8E0-C12F-03C1B706B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566F-94AD-874F-B294-435E7FFB946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82265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1A40F-8CE9-F2A4-2FE1-4134FE0DB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CB91D3-02A5-18D6-8E4A-9F30936B1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8FD85-18FD-6040-A648-D0B350E207AB}" type="datetimeFigureOut">
              <a:rPr lang="en-DE" smtClean="0"/>
              <a:t>25.11.25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7A2B33-B1A4-4587-FF5A-2973EECF6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E1CE9F-F5E1-9BFE-CE50-6A94797CC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566F-94AD-874F-B294-435E7FFB946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95750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FC81F2-46FA-1888-2875-C135A58DC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8FD85-18FD-6040-A648-D0B350E207AB}" type="datetimeFigureOut">
              <a:rPr lang="en-DE" smtClean="0"/>
              <a:t>25.11.25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30943A-3CE4-319F-DC44-5D76ED2E1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5900BE-4EE0-0EC8-21C7-FE665F051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566F-94AD-874F-B294-435E7FFB946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28473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75D85-4E9A-47C7-FAB2-B474339C4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DE996-4374-178C-D46E-A89F7FFF8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05A745-6230-F353-22EC-8C48CE5F61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1BE4D4-2777-4418-1F0B-A5BD17132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8FD85-18FD-6040-A648-D0B350E207AB}" type="datetimeFigureOut">
              <a:rPr lang="en-DE" smtClean="0"/>
              <a:t>25.11.25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8EAFE7-C576-5EAF-FA2A-6AD7D4439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D0BFF5-0FD6-4C00-8DED-DF6497C4C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566F-94AD-874F-B294-435E7FFB946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51079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E9B80-A487-DE9B-DD16-A05EF4CD8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B665FC-5C41-957F-82E0-A480FB214F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88AD7F-3D84-E2E2-0BF0-DFBA153B0B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15184-B1E3-5B02-D4B1-DCE352C74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8FD85-18FD-6040-A648-D0B350E207AB}" type="datetimeFigureOut">
              <a:rPr lang="en-DE" smtClean="0"/>
              <a:t>25.11.25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A016A2-596C-A7FC-6FDA-F48329783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7617F-1500-E5F5-76EA-555231C55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566F-94AD-874F-B294-435E7FFB946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84457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B3F7B-69CD-2FA5-206F-1BBF4FEEF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1D3457-E893-0F66-1699-B85543B668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58F36-C76D-413B-492B-6E6622B8B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8FD85-18FD-6040-A648-D0B350E207AB}" type="datetimeFigureOut">
              <a:rPr lang="en-DE" smtClean="0"/>
              <a:t>25.11.25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03DDB-2BD6-6009-94C0-C7539F950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4C5C0-A39D-5F00-23DC-2619400E6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566F-94AD-874F-B294-435E7FFB946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43777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71FC79-666A-460D-CB88-BFF6C5C78F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3EC2D1-C926-EFEC-048E-79E97B4572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B02199-E643-A2C5-3B11-89955E1B0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8FD85-18FD-6040-A648-D0B350E207AB}" type="datetimeFigureOut">
              <a:rPr lang="en-DE" smtClean="0"/>
              <a:t>25.11.25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18D2E-0790-59F1-870B-A3B317919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DB40CC-4159-F4ED-13ED-E5956A01F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566F-94AD-874F-B294-435E7FFB946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36126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CD2A2D-17CD-6321-4E31-B92F778FE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E95ED-68E7-1A64-3FC1-267393DBE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8B9955-FBC5-F3D1-AA6E-B0B049D57B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38FD85-18FD-6040-A648-D0B350E207AB}" type="datetimeFigureOut">
              <a:rPr lang="en-DE" smtClean="0"/>
              <a:t>25.11.25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AE6FB-BDFE-88BD-E74F-3A7BC9710F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FEF66-A62E-6C89-AAC8-4E83446287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A9566F-94AD-874F-B294-435E7FFB946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07921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alker-experiment.vercel.app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5871C-012A-B84F-B784-A8660DBAC0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5923" y="308473"/>
            <a:ext cx="9650776" cy="1465244"/>
          </a:xfrm>
        </p:spPr>
        <p:txBody>
          <a:bodyPr/>
          <a:lstStyle/>
          <a:p>
            <a:r>
              <a:rPr lang="en-DE" dirty="0"/>
              <a:t>Previous Studies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64DBD0-F53C-FDCB-4704-56CC28F354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718862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821D7-7EDF-8677-0174-396DFBF1A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8E162-9AE9-2BCA-F8B5-BE9904A95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56538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127AB-496B-1D5D-D839-C0E78B74D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343920" cy="769612"/>
          </a:xfrm>
        </p:spPr>
        <p:txBody>
          <a:bodyPr/>
          <a:lstStyle/>
          <a:p>
            <a:pPr algn="ctr"/>
            <a:r>
              <a:rPr lang="en-DE" dirty="0"/>
              <a:t>TMF Scale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ADEC6-9795-2397-0628-CC5CA3A4F3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744"/>
            <a:ext cx="10515600" cy="5539563"/>
          </a:xfrm>
        </p:spPr>
        <p:txBody>
          <a:bodyPr>
            <a:normAutofit/>
          </a:bodyPr>
          <a:lstStyle/>
          <a:p>
            <a:r>
              <a:rPr lang="en-DE" dirty="0"/>
              <a:t>Develpoed by </a:t>
            </a:r>
            <a:r>
              <a:rPr lang="en-GB" dirty="0"/>
              <a:t>Kachel, Steffens &amp; </a:t>
            </a:r>
            <a:r>
              <a:rPr lang="en-GB" dirty="0" err="1"/>
              <a:t>Niedlich</a:t>
            </a:r>
            <a:r>
              <a:rPr lang="en-GB" dirty="0"/>
              <a:t> (2016)</a:t>
            </a:r>
          </a:p>
          <a:p>
            <a:r>
              <a:rPr lang="en-GB" b="1" dirty="0"/>
              <a:t>6 items </a:t>
            </a:r>
            <a:r>
              <a:rPr lang="en-GB" dirty="0"/>
              <a:t>and </a:t>
            </a:r>
            <a:r>
              <a:rPr lang="en-GB" b="1" dirty="0"/>
              <a:t>7 points </a:t>
            </a:r>
            <a:r>
              <a:rPr lang="en-GB" dirty="0"/>
              <a:t>Likert-type </a:t>
            </a:r>
          </a:p>
          <a:p>
            <a:r>
              <a:rPr lang="en-GB" dirty="0"/>
              <a:t>The scale is </a:t>
            </a:r>
            <a:r>
              <a:rPr lang="en-GB" b="1" dirty="0"/>
              <a:t>bipolar</a:t>
            </a:r>
            <a:r>
              <a:rPr lang="en-GB" dirty="0"/>
              <a:t> and ranges from:</a:t>
            </a:r>
          </a:p>
          <a:p>
            <a:pPr lvl="1">
              <a:buFont typeface="Wingdings" pitchFamily="2" charset="2"/>
              <a:buChar char="Ø"/>
            </a:pPr>
            <a:r>
              <a:rPr lang="en-GB" b="1" dirty="0"/>
              <a:t>1 (Totally Masculine)</a:t>
            </a:r>
            <a:r>
              <a:rPr lang="en-GB" dirty="0"/>
              <a:t> to</a:t>
            </a:r>
          </a:p>
          <a:p>
            <a:pPr lvl="1">
              <a:buFont typeface="Wingdings" pitchFamily="2" charset="2"/>
              <a:buChar char="Ø"/>
            </a:pPr>
            <a:r>
              <a:rPr lang="en-GB" b="1" dirty="0"/>
              <a:t>7 (Totally Feminine)</a:t>
            </a:r>
          </a:p>
          <a:p>
            <a:pPr marL="457200" lvl="1" indent="0">
              <a:buNone/>
            </a:pPr>
            <a:endParaRPr lang="en-GB" dirty="0"/>
          </a:p>
          <a:p>
            <a:r>
              <a:rPr lang="en-GB" dirty="0"/>
              <a:t>Reliable unidimensional score: Cronbach’s </a:t>
            </a:r>
            <a:r>
              <a:rPr lang="el-GR" dirty="0"/>
              <a:t>α </a:t>
            </a:r>
            <a:r>
              <a:rPr lang="en-US" dirty="0"/>
              <a:t>= </a:t>
            </a:r>
            <a:r>
              <a:rPr lang="en-GB" b="1" dirty="0"/>
              <a:t>~.90</a:t>
            </a:r>
            <a:r>
              <a:rPr lang="en-GB" dirty="0"/>
              <a:t>.</a:t>
            </a:r>
          </a:p>
          <a:p>
            <a:r>
              <a:rPr lang="en-GB" b="1" dirty="0"/>
              <a:t>Internal consistency:</a:t>
            </a:r>
            <a:r>
              <a:rPr lang="en-GB" dirty="0"/>
              <a:t> TMF-F </a:t>
            </a:r>
            <a:r>
              <a:rPr lang="el-GR" dirty="0"/>
              <a:t>α ≈ </a:t>
            </a:r>
            <a:r>
              <a:rPr lang="el-GR" b="1" dirty="0"/>
              <a:t>0.90</a:t>
            </a:r>
            <a:r>
              <a:rPr lang="el-GR" dirty="0"/>
              <a:t> (6 </a:t>
            </a:r>
            <a:r>
              <a:rPr lang="en-GB" dirty="0"/>
              <a:t>items); TMF-M </a:t>
            </a:r>
            <a:r>
              <a:rPr lang="el-GR" dirty="0"/>
              <a:t>α ≈ </a:t>
            </a:r>
            <a:r>
              <a:rPr lang="el-GR" b="1" dirty="0"/>
              <a:t>0.89</a:t>
            </a:r>
            <a:r>
              <a:rPr lang="el-GR" dirty="0"/>
              <a:t> (6 </a:t>
            </a:r>
            <a:r>
              <a:rPr lang="en-GB" dirty="0"/>
              <a:t>items). </a:t>
            </a:r>
          </a:p>
          <a:p>
            <a:r>
              <a:rPr lang="en-GB" b="1" dirty="0"/>
              <a:t>Factor variance:</a:t>
            </a:r>
            <a:r>
              <a:rPr lang="en-GB" dirty="0"/>
              <a:t> first factor explained </a:t>
            </a:r>
            <a:r>
              <a:rPr lang="en-GB" b="1" dirty="0"/>
              <a:t>~57–61%</a:t>
            </a:r>
            <a:r>
              <a:rPr lang="en-GB" dirty="0"/>
              <a:t> of variance.</a:t>
            </a:r>
          </a:p>
          <a:p>
            <a:r>
              <a:rPr lang="en-GB" dirty="0"/>
              <a:t>Masculinity ratings and femininity ratings are </a:t>
            </a:r>
            <a:r>
              <a:rPr lang="en-GB" b="1" dirty="0"/>
              <a:t>highly negatively correlated</a:t>
            </a:r>
          </a:p>
          <a:p>
            <a:endParaRPr lang="en-GB" dirty="0"/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270269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45BBF-20BE-DF42-9D46-C3DE7E6D3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DE" b="1" dirty="0"/>
              <a:t>Scoring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B27C87-C4DA-34DE-7E81-9A2EA79D51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6352" y="2357609"/>
            <a:ext cx="8119295" cy="1441020"/>
          </a:xfrm>
        </p:spPr>
      </p:pic>
    </p:spTree>
    <p:extLst>
      <p:ext uri="{BB962C8B-B14F-4D97-AF65-F5344CB8AC3E}">
        <p14:creationId xmlns:p14="http://schemas.microsoft.com/office/powerpoint/2010/main" val="1575410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5BF56-6891-FB09-D1D5-58E012DC9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DE" dirty="0"/>
              <a:t>Scale Items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D577A14-F24C-8F0D-4088-7004017961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43519"/>
            <a:ext cx="928630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DE" altLang="en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 consider myself as</a:t>
            </a:r>
            <a:r>
              <a:rPr kumimoji="0" lang="en-DE" altLang="en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...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DE" altLang="en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Ideally, I would like to be</a:t>
            </a:r>
            <a:r>
              <a:rPr kumimoji="0" lang="en-DE" altLang="en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...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DE" altLang="en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Traditionally, my interests would be considered as</a:t>
            </a:r>
            <a:r>
              <a:rPr kumimoji="0" lang="en-DE" altLang="en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...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DE" altLang="en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Traditionally, my attitudes and beliefs would be considered as</a:t>
            </a:r>
            <a:r>
              <a:rPr kumimoji="0" lang="en-DE" altLang="en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...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DE" altLang="en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Traditionally, my behavior would be considered as</a:t>
            </a:r>
            <a:r>
              <a:rPr kumimoji="0" lang="en-DE" altLang="en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...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DE" altLang="en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Traditionally, my outer appearance would be considered as</a:t>
            </a:r>
            <a:r>
              <a:rPr kumimoji="0" lang="en-DE" altLang="en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...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DE" altLang="en-DE" sz="1800" dirty="0"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DE" altLang="en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DE" altLang="en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6827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CF216-475D-908D-577D-29C64EC17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DE" dirty="0"/>
              <a:t>Score Interpretations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E0AC913-82D4-E25D-6CD8-81BA263F12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88128" y="2286507"/>
            <a:ext cx="9150424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DE" altLang="en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Scores closer to 1 (1.0–2.5):</a:t>
            </a:r>
            <a:r>
              <a:rPr kumimoji="0" lang="en-DE" altLang="en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Indicate a </a:t>
            </a:r>
            <a:r>
              <a:rPr kumimoji="0" lang="en-DE" altLang="en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Masculine</a:t>
            </a:r>
            <a:r>
              <a:rPr kumimoji="0" lang="en-DE" altLang="en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gender-role self-concept.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endParaRPr kumimoji="0" lang="en-DE" altLang="en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DE" altLang="en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Scores around 4 (3.5–4.5):</a:t>
            </a:r>
            <a:r>
              <a:rPr kumimoji="0" lang="en-DE" altLang="en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Indicate an </a:t>
            </a:r>
            <a:r>
              <a:rPr kumimoji="0" lang="en-DE" altLang="en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Androgynous</a:t>
            </a:r>
            <a:r>
              <a:rPr kumimoji="0" lang="en-DE" altLang="en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</a:t>
            </a:r>
            <a:r>
              <a:rPr kumimoji="0" lang="en-DE" altLang="en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Undifferentiated</a:t>
            </a:r>
            <a:r>
              <a:rPr kumimoji="0" lang="en-DE" altLang="en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gender-role self-concept (balanced or neutral).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endParaRPr kumimoji="0" lang="en-DE" altLang="en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DE" altLang="en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Scores closer to 7 (5.5–7.0):</a:t>
            </a:r>
            <a:r>
              <a:rPr kumimoji="0" lang="en-DE" altLang="en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Indicate a </a:t>
            </a:r>
            <a:r>
              <a:rPr kumimoji="0" lang="en-DE" altLang="en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Feminine</a:t>
            </a:r>
            <a:r>
              <a:rPr kumimoji="0" lang="en-DE" altLang="en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gender-role self-concept.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endParaRPr lang="en-DE" altLang="en-DE" sz="1800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endParaRPr kumimoji="0" lang="en-DE" altLang="en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endParaRPr lang="en-DE" altLang="en-DE" sz="1800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endParaRPr kumimoji="0" lang="en-DE" altLang="en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endParaRPr kumimoji="0" lang="en-DE" altLang="en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8797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BFD95-42E9-30FA-9DD1-0A049B940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DE" dirty="0"/>
              <a:t>Demo Experiment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79085-E750-1D33-F228-305EE4D52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hlinkClick r:id="rId2"/>
              </a:rPr>
              <a:t>https://walker-experiment.vercel.app/</a:t>
            </a:r>
            <a:endParaRPr lang="en-GB" dirty="0"/>
          </a:p>
          <a:p>
            <a:endParaRPr lang="en-GB" dirty="0"/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181756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1686</TotalTime>
  <Words>203</Words>
  <Application>Microsoft Macintosh PowerPoint</Application>
  <PresentationFormat>Widescreen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Wingdings</vt:lpstr>
      <vt:lpstr>Office Theme</vt:lpstr>
      <vt:lpstr>Previous Studies</vt:lpstr>
      <vt:lpstr>PowerPoint Presentation</vt:lpstr>
      <vt:lpstr>TMF Scale </vt:lpstr>
      <vt:lpstr>Scoring</vt:lpstr>
      <vt:lpstr>Scale Items</vt:lpstr>
      <vt:lpstr>Score Interpretations</vt:lpstr>
      <vt:lpstr>Demo Experiment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Ислам Мд Хасибул</dc:creator>
  <cp:lastModifiedBy>Hasibul Islam</cp:lastModifiedBy>
  <cp:revision>13</cp:revision>
  <dcterms:created xsi:type="dcterms:W3CDTF">2025-11-24T10:05:36Z</dcterms:created>
  <dcterms:modified xsi:type="dcterms:W3CDTF">2025-11-25T16:37:07Z</dcterms:modified>
</cp:coreProperties>
</file>