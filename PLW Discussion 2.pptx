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9" r:id="rId5"/>
    <p:sldId id="264" r:id="rId6"/>
    <p:sldId id="265" r:id="rId7"/>
    <p:sldId id="769" r:id="rId8"/>
    <p:sldId id="770" r:id="rId9"/>
    <p:sldId id="263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20"/>
    <p:restoredTop sz="94634"/>
  </p:normalViewPr>
  <p:slideViewPr>
    <p:cSldViewPr snapToGrid="0">
      <p:cViewPr varScale="1">
        <p:scale>
          <a:sx n="95" d="100"/>
          <a:sy n="95" d="100"/>
        </p:scale>
        <p:origin x="18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9028C-5F9C-3A4A-9865-2826BC085DD4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6034C3-FCA2-7440-B2AC-6F862E78EB23}">
      <dgm:prSet phldrT="[Text]"/>
      <dgm:spPr/>
      <dgm:t>
        <a:bodyPr/>
        <a:lstStyle/>
        <a:p>
          <a:r>
            <a:rPr lang="en-US" dirty="0"/>
            <a:t>Gender </a:t>
          </a:r>
        </a:p>
      </dgm:t>
    </dgm:pt>
    <dgm:pt modelId="{3E24983C-A2E7-9C43-A435-D06E246F16C3}" type="parTrans" cxnId="{6590199A-8CC5-C240-840E-5F26CC7C2611}">
      <dgm:prSet/>
      <dgm:spPr/>
      <dgm:t>
        <a:bodyPr/>
        <a:lstStyle/>
        <a:p>
          <a:endParaRPr lang="en-US"/>
        </a:p>
      </dgm:t>
    </dgm:pt>
    <dgm:pt modelId="{6BAC64EC-C3FF-B643-B703-8C06B09F469B}" type="sibTrans" cxnId="{6590199A-8CC5-C240-840E-5F26CC7C2611}">
      <dgm:prSet/>
      <dgm:spPr/>
      <dgm:t>
        <a:bodyPr/>
        <a:lstStyle/>
        <a:p>
          <a:endParaRPr lang="en-US"/>
        </a:p>
      </dgm:t>
    </dgm:pt>
    <dgm:pt modelId="{3817334A-FF13-7A48-9036-4FFDB437ADF5}">
      <dgm:prSet phldrT="[Text]"/>
      <dgm:spPr/>
      <dgm:t>
        <a:bodyPr/>
        <a:lstStyle/>
        <a:p>
          <a:r>
            <a:rPr lang="en-US" dirty="0"/>
            <a:t>Self-definition</a:t>
          </a:r>
        </a:p>
      </dgm:t>
    </dgm:pt>
    <dgm:pt modelId="{BD02EB42-795A-2848-87DF-E243016D3946}" type="parTrans" cxnId="{E9FC5B0D-E0A2-FB48-BE76-B6E9F274F0D7}">
      <dgm:prSet/>
      <dgm:spPr/>
      <dgm:t>
        <a:bodyPr/>
        <a:lstStyle/>
        <a:p>
          <a:endParaRPr lang="en-US"/>
        </a:p>
      </dgm:t>
    </dgm:pt>
    <dgm:pt modelId="{AA90C877-51EA-0242-8614-8B0FEC795C72}" type="sibTrans" cxnId="{E9FC5B0D-E0A2-FB48-BE76-B6E9F274F0D7}">
      <dgm:prSet/>
      <dgm:spPr/>
      <dgm:t>
        <a:bodyPr/>
        <a:lstStyle/>
        <a:p>
          <a:endParaRPr lang="en-US"/>
        </a:p>
      </dgm:t>
    </dgm:pt>
    <dgm:pt modelId="{CB100A62-D06F-6F4B-B31F-AD4B02FEE125}">
      <dgm:prSet phldrT="[Text]"/>
      <dgm:spPr/>
      <dgm:t>
        <a:bodyPr/>
        <a:lstStyle/>
        <a:p>
          <a:r>
            <a:rPr lang="en-US" dirty="0"/>
            <a:t>General Concept</a:t>
          </a:r>
        </a:p>
      </dgm:t>
    </dgm:pt>
    <dgm:pt modelId="{EAFD7EAF-15C2-564C-868F-0F0A00FFFB02}" type="parTrans" cxnId="{99E16B07-9867-3B42-944B-05E057565C86}">
      <dgm:prSet/>
      <dgm:spPr/>
      <dgm:t>
        <a:bodyPr/>
        <a:lstStyle/>
        <a:p>
          <a:endParaRPr lang="en-US"/>
        </a:p>
      </dgm:t>
    </dgm:pt>
    <dgm:pt modelId="{0371C500-4867-E247-9DA5-3DB2D55F8D7F}" type="sibTrans" cxnId="{99E16B07-9867-3B42-944B-05E057565C86}">
      <dgm:prSet/>
      <dgm:spPr/>
      <dgm:t>
        <a:bodyPr/>
        <a:lstStyle/>
        <a:p>
          <a:endParaRPr lang="en-US"/>
        </a:p>
      </dgm:t>
    </dgm:pt>
    <dgm:pt modelId="{1F00603F-C8AB-CA42-9683-BA1F610C727D}" type="pres">
      <dgm:prSet presAssocID="{76B9028C-5F9C-3A4A-9865-2826BC085DD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EE20ED3-E838-BF4E-95D3-DE4BB03366A9}" type="pres">
      <dgm:prSet presAssocID="{726034C3-FCA2-7440-B2AC-6F862E78EB23}" presName="root1" presStyleCnt="0"/>
      <dgm:spPr/>
    </dgm:pt>
    <dgm:pt modelId="{1C4BBDE7-3DC6-7549-98E8-49EDBFD85786}" type="pres">
      <dgm:prSet presAssocID="{726034C3-FCA2-7440-B2AC-6F862E78EB23}" presName="LevelOneTextNode" presStyleLbl="node0" presStyleIdx="0" presStyleCnt="1">
        <dgm:presLayoutVars>
          <dgm:chPref val="3"/>
        </dgm:presLayoutVars>
      </dgm:prSet>
      <dgm:spPr/>
    </dgm:pt>
    <dgm:pt modelId="{232A13BD-72C8-9040-870B-E41BFDFBD682}" type="pres">
      <dgm:prSet presAssocID="{726034C3-FCA2-7440-B2AC-6F862E78EB23}" presName="level2hierChild" presStyleCnt="0"/>
      <dgm:spPr/>
    </dgm:pt>
    <dgm:pt modelId="{C2E9E351-0778-AE49-98AE-180551F17DA3}" type="pres">
      <dgm:prSet presAssocID="{BD02EB42-795A-2848-87DF-E243016D3946}" presName="conn2-1" presStyleLbl="parChTrans1D2" presStyleIdx="0" presStyleCnt="2"/>
      <dgm:spPr/>
    </dgm:pt>
    <dgm:pt modelId="{8DE672DF-C228-1A43-9C71-81023CB6B5A7}" type="pres">
      <dgm:prSet presAssocID="{BD02EB42-795A-2848-87DF-E243016D3946}" presName="connTx" presStyleLbl="parChTrans1D2" presStyleIdx="0" presStyleCnt="2"/>
      <dgm:spPr/>
    </dgm:pt>
    <dgm:pt modelId="{AAF6B271-6642-DC40-9C44-1C5CEDB618E6}" type="pres">
      <dgm:prSet presAssocID="{3817334A-FF13-7A48-9036-4FFDB437ADF5}" presName="root2" presStyleCnt="0"/>
      <dgm:spPr/>
    </dgm:pt>
    <dgm:pt modelId="{F5CBB079-F16A-5D4A-861E-0B7AD6C7EBAC}" type="pres">
      <dgm:prSet presAssocID="{3817334A-FF13-7A48-9036-4FFDB437ADF5}" presName="LevelTwoTextNode" presStyleLbl="node2" presStyleIdx="0" presStyleCnt="2">
        <dgm:presLayoutVars>
          <dgm:chPref val="3"/>
        </dgm:presLayoutVars>
      </dgm:prSet>
      <dgm:spPr/>
    </dgm:pt>
    <dgm:pt modelId="{4A232E62-F8AF-6D45-9617-15D78C740636}" type="pres">
      <dgm:prSet presAssocID="{3817334A-FF13-7A48-9036-4FFDB437ADF5}" presName="level3hierChild" presStyleCnt="0"/>
      <dgm:spPr/>
    </dgm:pt>
    <dgm:pt modelId="{A8DC6601-05F0-D64A-90CC-43C2EF8E0C7B}" type="pres">
      <dgm:prSet presAssocID="{EAFD7EAF-15C2-564C-868F-0F0A00FFFB02}" presName="conn2-1" presStyleLbl="parChTrans1D2" presStyleIdx="1" presStyleCnt="2"/>
      <dgm:spPr/>
    </dgm:pt>
    <dgm:pt modelId="{029A00DF-E9D7-CA4A-9BED-3F14C2B9B45B}" type="pres">
      <dgm:prSet presAssocID="{EAFD7EAF-15C2-564C-868F-0F0A00FFFB02}" presName="connTx" presStyleLbl="parChTrans1D2" presStyleIdx="1" presStyleCnt="2"/>
      <dgm:spPr/>
    </dgm:pt>
    <dgm:pt modelId="{9C12359D-ED68-3445-B93F-B6BD65CE4A42}" type="pres">
      <dgm:prSet presAssocID="{CB100A62-D06F-6F4B-B31F-AD4B02FEE125}" presName="root2" presStyleCnt="0"/>
      <dgm:spPr/>
    </dgm:pt>
    <dgm:pt modelId="{38BBDD9C-20A7-8046-87CA-5415A14B347C}" type="pres">
      <dgm:prSet presAssocID="{CB100A62-D06F-6F4B-B31F-AD4B02FEE125}" presName="LevelTwoTextNode" presStyleLbl="node2" presStyleIdx="1" presStyleCnt="2">
        <dgm:presLayoutVars>
          <dgm:chPref val="3"/>
        </dgm:presLayoutVars>
      </dgm:prSet>
      <dgm:spPr/>
    </dgm:pt>
    <dgm:pt modelId="{171D6783-0150-554B-99AA-2A9D8ED68EDE}" type="pres">
      <dgm:prSet presAssocID="{CB100A62-D06F-6F4B-B31F-AD4B02FEE125}" presName="level3hierChild" presStyleCnt="0"/>
      <dgm:spPr/>
    </dgm:pt>
  </dgm:ptLst>
  <dgm:cxnLst>
    <dgm:cxn modelId="{99E16B07-9867-3B42-944B-05E057565C86}" srcId="{726034C3-FCA2-7440-B2AC-6F862E78EB23}" destId="{CB100A62-D06F-6F4B-B31F-AD4B02FEE125}" srcOrd="1" destOrd="0" parTransId="{EAFD7EAF-15C2-564C-868F-0F0A00FFFB02}" sibTransId="{0371C500-4867-E247-9DA5-3DB2D55F8D7F}"/>
    <dgm:cxn modelId="{E9FC5B0D-E0A2-FB48-BE76-B6E9F274F0D7}" srcId="{726034C3-FCA2-7440-B2AC-6F862E78EB23}" destId="{3817334A-FF13-7A48-9036-4FFDB437ADF5}" srcOrd="0" destOrd="0" parTransId="{BD02EB42-795A-2848-87DF-E243016D3946}" sibTransId="{AA90C877-51EA-0242-8614-8B0FEC795C72}"/>
    <dgm:cxn modelId="{DF244D30-BFFC-EE43-A1CC-4857B422F701}" type="presOf" srcId="{BD02EB42-795A-2848-87DF-E243016D3946}" destId="{8DE672DF-C228-1A43-9C71-81023CB6B5A7}" srcOrd="1" destOrd="0" presId="urn:microsoft.com/office/officeart/2008/layout/HorizontalMultiLevelHierarchy"/>
    <dgm:cxn modelId="{55145D53-11AC-F645-93EF-A7C571065660}" type="presOf" srcId="{76B9028C-5F9C-3A4A-9865-2826BC085DD4}" destId="{1F00603F-C8AB-CA42-9683-BA1F610C727D}" srcOrd="0" destOrd="0" presId="urn:microsoft.com/office/officeart/2008/layout/HorizontalMultiLevelHierarchy"/>
    <dgm:cxn modelId="{ECE8DC67-AD3B-8947-88FB-C3D9BE5CBEF3}" type="presOf" srcId="{BD02EB42-795A-2848-87DF-E243016D3946}" destId="{C2E9E351-0778-AE49-98AE-180551F17DA3}" srcOrd="0" destOrd="0" presId="urn:microsoft.com/office/officeart/2008/layout/HorizontalMultiLevelHierarchy"/>
    <dgm:cxn modelId="{8EC07972-322F-2241-9C00-678712F263E8}" type="presOf" srcId="{EAFD7EAF-15C2-564C-868F-0F0A00FFFB02}" destId="{029A00DF-E9D7-CA4A-9BED-3F14C2B9B45B}" srcOrd="1" destOrd="0" presId="urn:microsoft.com/office/officeart/2008/layout/HorizontalMultiLevelHierarchy"/>
    <dgm:cxn modelId="{7C0F0A8B-63EE-234B-9644-9D5DC3CAF133}" type="presOf" srcId="{EAFD7EAF-15C2-564C-868F-0F0A00FFFB02}" destId="{A8DC6601-05F0-D64A-90CC-43C2EF8E0C7B}" srcOrd="0" destOrd="0" presId="urn:microsoft.com/office/officeart/2008/layout/HorizontalMultiLevelHierarchy"/>
    <dgm:cxn modelId="{6590199A-8CC5-C240-840E-5F26CC7C2611}" srcId="{76B9028C-5F9C-3A4A-9865-2826BC085DD4}" destId="{726034C3-FCA2-7440-B2AC-6F862E78EB23}" srcOrd="0" destOrd="0" parTransId="{3E24983C-A2E7-9C43-A435-D06E246F16C3}" sibTransId="{6BAC64EC-C3FF-B643-B703-8C06B09F469B}"/>
    <dgm:cxn modelId="{2B9A94A9-F502-8A4F-9E83-9AF4251C479B}" type="presOf" srcId="{CB100A62-D06F-6F4B-B31F-AD4B02FEE125}" destId="{38BBDD9C-20A7-8046-87CA-5415A14B347C}" srcOrd="0" destOrd="0" presId="urn:microsoft.com/office/officeart/2008/layout/HorizontalMultiLevelHierarchy"/>
    <dgm:cxn modelId="{7A0F7ED2-733A-8C48-AFEA-61E70199C12C}" type="presOf" srcId="{3817334A-FF13-7A48-9036-4FFDB437ADF5}" destId="{F5CBB079-F16A-5D4A-861E-0B7AD6C7EBAC}" srcOrd="0" destOrd="0" presId="urn:microsoft.com/office/officeart/2008/layout/HorizontalMultiLevelHierarchy"/>
    <dgm:cxn modelId="{4D91C9EB-1C7A-4E4D-ADF7-2D84482B18EC}" type="presOf" srcId="{726034C3-FCA2-7440-B2AC-6F862E78EB23}" destId="{1C4BBDE7-3DC6-7549-98E8-49EDBFD85786}" srcOrd="0" destOrd="0" presId="urn:microsoft.com/office/officeart/2008/layout/HorizontalMultiLevelHierarchy"/>
    <dgm:cxn modelId="{457AA6C1-87E5-3C47-8950-CE63D7611424}" type="presParOf" srcId="{1F00603F-C8AB-CA42-9683-BA1F610C727D}" destId="{5EE20ED3-E838-BF4E-95D3-DE4BB03366A9}" srcOrd="0" destOrd="0" presId="urn:microsoft.com/office/officeart/2008/layout/HorizontalMultiLevelHierarchy"/>
    <dgm:cxn modelId="{19F2FD35-1F4C-C946-81D6-93624C2B7BCC}" type="presParOf" srcId="{5EE20ED3-E838-BF4E-95D3-DE4BB03366A9}" destId="{1C4BBDE7-3DC6-7549-98E8-49EDBFD85786}" srcOrd="0" destOrd="0" presId="urn:microsoft.com/office/officeart/2008/layout/HorizontalMultiLevelHierarchy"/>
    <dgm:cxn modelId="{1239FB22-61BB-C24E-82D7-8E7F2D237CA9}" type="presParOf" srcId="{5EE20ED3-E838-BF4E-95D3-DE4BB03366A9}" destId="{232A13BD-72C8-9040-870B-E41BFDFBD682}" srcOrd="1" destOrd="0" presId="urn:microsoft.com/office/officeart/2008/layout/HorizontalMultiLevelHierarchy"/>
    <dgm:cxn modelId="{B94C25F5-5E4B-FD4F-B271-9E34B81608E7}" type="presParOf" srcId="{232A13BD-72C8-9040-870B-E41BFDFBD682}" destId="{C2E9E351-0778-AE49-98AE-180551F17DA3}" srcOrd="0" destOrd="0" presId="urn:microsoft.com/office/officeart/2008/layout/HorizontalMultiLevelHierarchy"/>
    <dgm:cxn modelId="{885C51FF-083E-B842-B8CE-54EE752DA81A}" type="presParOf" srcId="{C2E9E351-0778-AE49-98AE-180551F17DA3}" destId="{8DE672DF-C228-1A43-9C71-81023CB6B5A7}" srcOrd="0" destOrd="0" presId="urn:microsoft.com/office/officeart/2008/layout/HorizontalMultiLevelHierarchy"/>
    <dgm:cxn modelId="{DFA819D3-2E74-1D4D-BD7B-F74817035617}" type="presParOf" srcId="{232A13BD-72C8-9040-870B-E41BFDFBD682}" destId="{AAF6B271-6642-DC40-9C44-1C5CEDB618E6}" srcOrd="1" destOrd="0" presId="urn:microsoft.com/office/officeart/2008/layout/HorizontalMultiLevelHierarchy"/>
    <dgm:cxn modelId="{145DCB7E-DC10-E64D-909B-0E0BC42AEA84}" type="presParOf" srcId="{AAF6B271-6642-DC40-9C44-1C5CEDB618E6}" destId="{F5CBB079-F16A-5D4A-861E-0B7AD6C7EBAC}" srcOrd="0" destOrd="0" presId="urn:microsoft.com/office/officeart/2008/layout/HorizontalMultiLevelHierarchy"/>
    <dgm:cxn modelId="{644133D9-D058-6347-90B0-AD503FFF973A}" type="presParOf" srcId="{AAF6B271-6642-DC40-9C44-1C5CEDB618E6}" destId="{4A232E62-F8AF-6D45-9617-15D78C740636}" srcOrd="1" destOrd="0" presId="urn:microsoft.com/office/officeart/2008/layout/HorizontalMultiLevelHierarchy"/>
    <dgm:cxn modelId="{04CF33BE-CEA7-0E40-AF4A-3BCEF09AC249}" type="presParOf" srcId="{232A13BD-72C8-9040-870B-E41BFDFBD682}" destId="{A8DC6601-05F0-D64A-90CC-43C2EF8E0C7B}" srcOrd="2" destOrd="0" presId="urn:microsoft.com/office/officeart/2008/layout/HorizontalMultiLevelHierarchy"/>
    <dgm:cxn modelId="{0B106D52-4601-5141-9B4E-6BFF8E051848}" type="presParOf" srcId="{A8DC6601-05F0-D64A-90CC-43C2EF8E0C7B}" destId="{029A00DF-E9D7-CA4A-9BED-3F14C2B9B45B}" srcOrd="0" destOrd="0" presId="urn:microsoft.com/office/officeart/2008/layout/HorizontalMultiLevelHierarchy"/>
    <dgm:cxn modelId="{C823C08D-0294-4646-93AD-D4759709DBBD}" type="presParOf" srcId="{232A13BD-72C8-9040-870B-E41BFDFBD682}" destId="{9C12359D-ED68-3445-B93F-B6BD65CE4A42}" srcOrd="3" destOrd="0" presId="urn:microsoft.com/office/officeart/2008/layout/HorizontalMultiLevelHierarchy"/>
    <dgm:cxn modelId="{DE64EC41-4CA9-AE49-9DD2-3BFB75602C99}" type="presParOf" srcId="{9C12359D-ED68-3445-B93F-B6BD65CE4A42}" destId="{38BBDD9C-20A7-8046-87CA-5415A14B347C}" srcOrd="0" destOrd="0" presId="urn:microsoft.com/office/officeart/2008/layout/HorizontalMultiLevelHierarchy"/>
    <dgm:cxn modelId="{096CF53F-21A7-2A41-917D-55B5C4D9F2D2}" type="presParOf" srcId="{9C12359D-ED68-3445-B93F-B6BD65CE4A42}" destId="{171D6783-0150-554B-99AA-2A9D8ED68ED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C6601-05F0-D64A-90CC-43C2EF8E0C7B}">
      <dsp:nvSpPr>
        <dsp:cNvPr id="0" name=""/>
        <dsp:cNvSpPr/>
      </dsp:nvSpPr>
      <dsp:spPr>
        <a:xfrm>
          <a:off x="4044124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6572" y="2415302"/>
        <a:ext cx="37454" cy="37454"/>
      </dsp:txXfrm>
    </dsp:sp>
    <dsp:sp modelId="{C2E9E351-0778-AE49-98AE-180551F17DA3}">
      <dsp:nvSpPr>
        <dsp:cNvPr id="0" name=""/>
        <dsp:cNvSpPr/>
      </dsp:nvSpPr>
      <dsp:spPr>
        <a:xfrm>
          <a:off x="4044124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6572" y="1898580"/>
        <a:ext cx="37454" cy="37454"/>
      </dsp:txXfrm>
    </dsp:sp>
    <dsp:sp modelId="{1C4BBDE7-3DC6-7549-98E8-49EDBFD85786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Gender </a:t>
          </a:r>
        </a:p>
      </dsp:txBody>
      <dsp:txXfrm>
        <a:off x="1455078" y="1762291"/>
        <a:ext cx="4351338" cy="826754"/>
      </dsp:txXfrm>
    </dsp:sp>
    <dsp:sp modelId="{F5CBB079-F16A-5D4A-861E-0B7AD6C7EBAC}">
      <dsp:nvSpPr>
        <dsp:cNvPr id="0" name=""/>
        <dsp:cNvSpPr/>
      </dsp:nvSpPr>
      <dsp:spPr>
        <a:xfrm>
          <a:off x="4586475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Self-definition</a:t>
          </a:r>
        </a:p>
      </dsp:txBody>
      <dsp:txXfrm>
        <a:off x="4586475" y="1245570"/>
        <a:ext cx="2711753" cy="826754"/>
      </dsp:txXfrm>
    </dsp:sp>
    <dsp:sp modelId="{38BBDD9C-20A7-8046-87CA-5415A14B347C}">
      <dsp:nvSpPr>
        <dsp:cNvPr id="0" name=""/>
        <dsp:cNvSpPr/>
      </dsp:nvSpPr>
      <dsp:spPr>
        <a:xfrm>
          <a:off x="4586475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General Concept</a:t>
          </a:r>
        </a:p>
      </dsp:txBody>
      <dsp:txXfrm>
        <a:off x="4586475" y="2279013"/>
        <a:ext cx="2711753" cy="826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2D15-F00F-C241-19D6-D25CCD116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F4461-E26D-73BF-7CD8-036BE964C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39FD-7020-8454-2E2F-6F76C652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2228D-1898-546F-2ABB-AD5BE854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1FF68-9A7F-2EF9-D046-665ED6E5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745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E594-2CF7-CD31-4B47-5D94A158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C38BD-03AB-8EF0-BE32-C544632C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8CC67-A5EA-5108-221B-FA8BDFA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BBD50-E1DD-7457-9C9B-D98F9854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A65E-A3A0-6A3C-DAC8-3275DF57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065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E827-056A-AE20-032B-880250F2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CB752-8A6C-7ABC-C80B-0BE90DCE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0BD9-47D1-55E4-E5F3-CFBC334E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1159-34DB-2E1D-B162-E77F2478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013B-762B-9F9E-03FA-E49578A5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464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8EA4-4E24-EF23-E14E-98BE64C8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C945-AF0C-0AA7-F593-F24599DEA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874DE-7778-81BD-6F16-C0C28F60A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3BAD5-DFEA-3CEA-6793-B02EC64D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05A88-D337-17F3-6963-3BF49526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3E9CD-1DCA-F3E6-DBB3-90A48DAB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603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028-EF1C-D82F-4642-D1EA0A11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78229-D70A-F33E-3BBC-984D16130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267E0-2283-E926-4AE1-CED14E52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5E1EA-DF97-32D2-7DCB-EC7DE3E0F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12030-C1BD-AD6A-626E-B1D48E99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23C5D-B912-F105-B302-DFE9C221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8BC0D-BC2B-BD7E-DD4D-A596B4A6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9CC65-CF17-F8E0-C12F-03C1B706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226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A40F-8CE9-F2A4-2FE1-4134FE0D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B91D3-02A5-18D6-8E4A-9F30936B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A2B33-B1A4-4587-FF5A-2973EECF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1CE9F-F5E1-9BFE-CE50-6A94797C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575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C81F2-46FA-1888-2875-C135A58D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0943A-3CE4-319F-DC44-5D76ED2E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900BE-4EE0-0EC8-21C7-FE665F05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847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5D85-4E9A-47C7-FAB2-B474339C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E996-4374-178C-D46E-A89F7FFF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5A745-6230-F353-22EC-8C48CE5F6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E4D4-2777-4418-1F0B-A5BD1713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EAFE7-C576-5EAF-FA2A-6AD7D443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BFF5-0FD6-4C00-8DED-DF6497C4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51079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9B80-A487-DE9B-DD16-A05EF4CD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665FC-5C41-957F-82E0-A480FB214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8AD7F-3D84-E2E2-0BF0-DFBA153B0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5184-B1E3-5B02-D4B1-DCE352C7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016A2-596C-A7FC-6FDA-F4832978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7617F-1500-E5F5-76EA-555231C5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445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3F7B-69CD-2FA5-206F-1BBF4FEE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D3457-E893-0F66-1699-B85543B66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58F36-C76D-413B-492B-6E6622B8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03DDB-2BD6-6009-94C0-C7539F95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4C5C0-A39D-5F00-23DC-2619400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377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1FC79-666A-460D-CB88-BFF6C5C78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EC2D1-C926-EFEC-048E-79E97B457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02199-E643-A2C5-3B11-89955E1B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18D2E-0790-59F1-870B-A3B31791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B40CC-4159-F4ED-13ED-E5956A01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612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D2A2D-17CD-6321-4E31-B92F778F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E95ED-68E7-1A64-3FC1-267393DB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B9955-FBC5-F3D1-AA6E-B0B049D57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8FD85-18FD-6040-A648-D0B350E207AB}" type="datetimeFigureOut">
              <a:rPr lang="en-DE" smtClean="0"/>
              <a:t>11/25/25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E6FB-BDFE-88BD-E74F-3A7BC971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EF66-A62E-6C89-AAC8-4E8344628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792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871C-012A-B84F-B784-A8660DBAC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923" y="308473"/>
            <a:ext cx="9650776" cy="1465244"/>
          </a:xfrm>
        </p:spPr>
        <p:txBody>
          <a:bodyPr/>
          <a:lstStyle/>
          <a:p>
            <a:r>
              <a:rPr lang="en-DE" dirty="0"/>
              <a:t>Previous Studies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4DBD0-F53C-FDCB-4704-56CC28F354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1886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21D7-7EDF-8677-0174-396DFBF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07DE29-8F8A-EBF3-41AF-D4EC77CA1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1450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653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27AB-496B-1D5D-D839-C0E78B74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95693"/>
            <a:ext cx="11600329" cy="1309550"/>
          </a:xfrm>
        </p:spPr>
        <p:txBody>
          <a:bodyPr>
            <a:normAutofit fontScale="90000"/>
          </a:bodyPr>
          <a:lstStyle/>
          <a:p>
            <a:pPr algn="ctr"/>
            <a:r>
              <a:rPr lang="en-DE" sz="2800" b="1"/>
              <a:t>TMF Scale</a:t>
            </a:r>
            <a:r>
              <a:rPr lang="en-US" sz="2800" b="1" dirty="0"/>
              <a:t>– </a:t>
            </a:r>
            <a:br>
              <a:rPr lang="en-US" sz="2800" b="1" dirty="0"/>
            </a:br>
            <a:r>
              <a:rPr lang="en-US" sz="2800" b="1" dirty="0"/>
              <a:t>People’s </a:t>
            </a:r>
            <a:r>
              <a:rPr lang="en-US" sz="2800" b="1" i="1" dirty="0"/>
              <a:t>self-ascribed</a:t>
            </a:r>
            <a:r>
              <a:rPr lang="en-US" sz="2800" b="1" dirty="0"/>
              <a:t> “core” masculinity–femininity (their gender-role self-concept) </a:t>
            </a:r>
            <a:r>
              <a:rPr lang="en-US" sz="2000" dirty="0"/>
              <a:t>.</a:t>
            </a:r>
            <a:br>
              <a:rPr lang="en-DE" sz="2000"/>
            </a:br>
            <a:r>
              <a:rPr lang="en-DE" sz="2000"/>
              <a:t> </a:t>
            </a:r>
            <a:endParaRPr lang="en-DE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ADEC6-9795-2397-0628-CC5CA3A4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44"/>
            <a:ext cx="10515600" cy="5539563"/>
          </a:xfrm>
        </p:spPr>
        <p:txBody>
          <a:bodyPr>
            <a:normAutofit lnSpcReduction="10000"/>
          </a:bodyPr>
          <a:lstStyle/>
          <a:p>
            <a:r>
              <a:rPr lang="en-DE" dirty="0"/>
              <a:t>Develpoed by </a:t>
            </a:r>
            <a:r>
              <a:rPr lang="en-GB" dirty="0"/>
              <a:t>Kachel, Steffens &amp; </a:t>
            </a:r>
            <a:r>
              <a:rPr lang="en-GB" dirty="0" err="1"/>
              <a:t>Niedlich</a:t>
            </a:r>
            <a:r>
              <a:rPr lang="en-GB" dirty="0"/>
              <a:t> (2016)</a:t>
            </a:r>
          </a:p>
          <a:p>
            <a:r>
              <a:rPr lang="en-GB" b="1" dirty="0"/>
              <a:t>6 items </a:t>
            </a:r>
            <a:r>
              <a:rPr lang="en-GB" dirty="0"/>
              <a:t>and </a:t>
            </a:r>
            <a:r>
              <a:rPr lang="en-GB" b="1" dirty="0"/>
              <a:t>7 points </a:t>
            </a:r>
            <a:r>
              <a:rPr lang="en-GB" dirty="0"/>
              <a:t>Likert-type </a:t>
            </a:r>
          </a:p>
          <a:p>
            <a:r>
              <a:rPr lang="en-GB" dirty="0"/>
              <a:t>The scale is </a:t>
            </a:r>
            <a:r>
              <a:rPr lang="en-GB" b="1" dirty="0"/>
              <a:t>bipolar</a:t>
            </a:r>
            <a:r>
              <a:rPr lang="en-GB" dirty="0"/>
              <a:t> and ranges from: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1 (Totally Masculine)</a:t>
            </a:r>
            <a:r>
              <a:rPr lang="en-GB" dirty="0"/>
              <a:t> to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7 (Totally Feminine)</a:t>
            </a:r>
          </a:p>
          <a:p>
            <a:pPr marL="457200" lvl="1" indent="0">
              <a:buNone/>
            </a:pPr>
            <a:endParaRPr lang="en-GB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I consider myself as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Ideally, I would like to be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Traditionally, my interests would be considered as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Traditionally, my attitudes and beliefs would be considered as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Traditionally, my behavior would be considered as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DE" altLang="en-DE" b="1">
                <a:latin typeface="Arial" panose="020B0604020202020204" pitchFamily="34" charset="0"/>
              </a:rPr>
              <a:t>Traditionally, my outer appearance would be considered as</a:t>
            </a:r>
            <a:r>
              <a:rPr lang="en-DE" altLang="en-DE">
                <a:latin typeface="Arial" panose="020B0604020202020204" pitchFamily="34" charset="0"/>
              </a:rPr>
              <a:t>...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DE" altLang="en-DE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DE" altLang="en-DE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DE" altLang="en-DE">
              <a:latin typeface="Arial" panose="020B0604020202020204" pitchFamily="34" charset="0"/>
            </a:endParaRPr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70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F216-475D-908D-577D-29C64EC1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E" dirty="0"/>
              <a:t>Score Interpretations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0AC913-82D4-E25D-6CD8-81BA263F1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8128" y="2286507"/>
            <a:ext cx="91504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closer to 1 (1.0–2.5):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Masculine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around 4 (3.5–4.5):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an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Androgynous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Undifferentiated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 (balanced or neutral).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closer to 7 (5.5–7.0):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Feminine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DE" altLang="en-DE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DE" altLang="en-DE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79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B71C-DD73-EE2C-EDC3-D24388D5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General Concept of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49E11-626D-76A2-797E-20CB8E131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Traditional-Antitraditional Gender Role Attitudes Scale (TAGRAS)</a:t>
            </a:r>
          </a:p>
          <a:p>
            <a:pPr marL="457200" lvl="1" indent="0">
              <a:buNone/>
            </a:pPr>
            <a:r>
              <a:rPr lang="en-US" b="1" dirty="0"/>
              <a:t>							Klocke &amp; Lamberty, 2015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 </a:t>
            </a:r>
            <a:r>
              <a:rPr lang="en-US" b="1" dirty="0"/>
              <a:t>Bem Sex-Role Inventory (BSRI)</a:t>
            </a:r>
          </a:p>
          <a:p>
            <a:pPr marL="457200" lvl="1" indent="0">
              <a:buNone/>
            </a:pPr>
            <a:r>
              <a:rPr lang="en-US" b="1" dirty="0"/>
              <a:t>			Schmitt &amp; Millard, 1988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5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F99A-24E0-999C-80F4-51DF84A9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Variable: 4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29C9-7C59-50E2-C468-4492586BD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Explicit Perceived Male and Female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Evaluation of the difference between 2 stimuli – Sensitivity Measurement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Identification of change between stimuli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Combination of 1 &amp; 3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0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0E32C-F51E-3B90-62AF-D6F55B0DDC93}"/>
              </a:ext>
            </a:extLst>
          </p:cNvPr>
          <p:cNvSpPr/>
          <p:nvPr/>
        </p:nvSpPr>
        <p:spPr>
          <a:xfrm>
            <a:off x="367554" y="932330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7E13D-63A9-F324-0CAA-F6FCD623C1E5}"/>
              </a:ext>
            </a:extLst>
          </p:cNvPr>
          <p:cNvSpPr/>
          <p:nvPr/>
        </p:nvSpPr>
        <p:spPr>
          <a:xfrm>
            <a:off x="1981201" y="1640543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figures stimuli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423766-712A-3EAA-2E83-A49C7B641DAD}"/>
              </a:ext>
            </a:extLst>
          </p:cNvPr>
          <p:cNvSpPr/>
          <p:nvPr/>
        </p:nvSpPr>
        <p:spPr>
          <a:xfrm>
            <a:off x="3532094" y="2438400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6E18C-CD9F-34B3-1BF3-6F6AE7C2EAF9}"/>
              </a:ext>
            </a:extLst>
          </p:cNvPr>
          <p:cNvSpPr txBox="1"/>
          <p:nvPr/>
        </p:nvSpPr>
        <p:spPr>
          <a:xfrm>
            <a:off x="862854" y="285999"/>
            <a:ext cx="3204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Explicit Perceived M and F 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37FB51-159D-2274-5F67-4BFE8B243555}"/>
              </a:ext>
            </a:extLst>
          </p:cNvPr>
          <p:cNvSpPr/>
          <p:nvPr/>
        </p:nvSpPr>
        <p:spPr>
          <a:xfrm>
            <a:off x="67236" y="3908612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7ADD0-E2E3-69A0-0BC9-A5A37EDA384F}"/>
              </a:ext>
            </a:extLst>
          </p:cNvPr>
          <p:cNvSpPr/>
          <p:nvPr/>
        </p:nvSpPr>
        <p:spPr>
          <a:xfrm>
            <a:off x="1851212" y="4563035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Two figures stimuli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3F4544-3CE7-2838-8317-023D4F6E3BED}"/>
              </a:ext>
            </a:extLst>
          </p:cNvPr>
          <p:cNvSpPr/>
          <p:nvPr/>
        </p:nvSpPr>
        <p:spPr>
          <a:xfrm>
            <a:off x="3231776" y="5414682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Are they the same or different?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2004B-2AD8-9668-3EFE-30A7C219512D}"/>
              </a:ext>
            </a:extLst>
          </p:cNvPr>
          <p:cNvSpPr txBox="1"/>
          <p:nvPr/>
        </p:nvSpPr>
        <p:spPr>
          <a:xfrm>
            <a:off x="3307976" y="3888907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Sensitivity Measurement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9C090A-F7FB-BF65-606C-2E0B93FC1561}"/>
              </a:ext>
            </a:extLst>
          </p:cNvPr>
          <p:cNvSpPr/>
          <p:nvPr/>
        </p:nvSpPr>
        <p:spPr>
          <a:xfrm>
            <a:off x="6015317" y="564776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49BB0D-8DDC-1826-D73F-962032D4CAF2}"/>
              </a:ext>
            </a:extLst>
          </p:cNvPr>
          <p:cNvSpPr/>
          <p:nvPr/>
        </p:nvSpPr>
        <p:spPr>
          <a:xfrm>
            <a:off x="7628964" y="1272989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figures stimuli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8308D9-3CAD-B377-E9FD-9AEBB64998A8}"/>
              </a:ext>
            </a:extLst>
          </p:cNvPr>
          <p:cNvSpPr/>
          <p:nvPr/>
        </p:nvSpPr>
        <p:spPr>
          <a:xfrm>
            <a:off x="9179857" y="2070846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Same or different from the previous 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8A392-7C1D-37CB-980F-2653EED9AD05}"/>
              </a:ext>
            </a:extLst>
          </p:cNvPr>
          <p:cNvSpPr txBox="1"/>
          <p:nvPr/>
        </p:nvSpPr>
        <p:spPr>
          <a:xfrm>
            <a:off x="8012203" y="43952"/>
            <a:ext cx="476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Identification of change between stimuli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1EC055-7E23-250D-1164-90319746543D}"/>
              </a:ext>
            </a:extLst>
          </p:cNvPr>
          <p:cNvCxnSpPr/>
          <p:nvPr/>
        </p:nvCxnSpPr>
        <p:spPr>
          <a:xfrm>
            <a:off x="4159624" y="3476531"/>
            <a:ext cx="18556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3DBA10-DCB9-D6FE-3817-A3B44D6E5724}"/>
              </a:ext>
            </a:extLst>
          </p:cNvPr>
          <p:cNvSpPr txBox="1"/>
          <p:nvPr/>
        </p:nvSpPr>
        <p:spPr>
          <a:xfrm>
            <a:off x="3906370" y="3264967"/>
            <a:ext cx="32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50D1E-A3D5-1B8D-6986-D294F37C5E9E}"/>
              </a:ext>
            </a:extLst>
          </p:cNvPr>
          <p:cNvSpPr txBox="1"/>
          <p:nvPr/>
        </p:nvSpPr>
        <p:spPr>
          <a:xfrm>
            <a:off x="5981700" y="3271271"/>
            <a:ext cx="32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8768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19C090A-F7FB-BF65-606C-2E0B93FC1561}"/>
              </a:ext>
            </a:extLst>
          </p:cNvPr>
          <p:cNvSpPr/>
          <p:nvPr/>
        </p:nvSpPr>
        <p:spPr>
          <a:xfrm>
            <a:off x="1299881" y="1362635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49BB0D-8DDC-1826-D73F-962032D4CAF2}"/>
              </a:ext>
            </a:extLst>
          </p:cNvPr>
          <p:cNvSpPr/>
          <p:nvPr/>
        </p:nvSpPr>
        <p:spPr>
          <a:xfrm>
            <a:off x="2913528" y="2070848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figures stimuli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8308D9-3CAD-B377-E9FD-9AEBB64998A8}"/>
              </a:ext>
            </a:extLst>
          </p:cNvPr>
          <p:cNvSpPr/>
          <p:nvPr/>
        </p:nvSpPr>
        <p:spPr>
          <a:xfrm>
            <a:off x="4464421" y="2868705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Same or different from the previous 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8A392-7C1D-37CB-980F-2653EED9AD05}"/>
              </a:ext>
            </a:extLst>
          </p:cNvPr>
          <p:cNvSpPr txBox="1"/>
          <p:nvPr/>
        </p:nvSpPr>
        <p:spPr>
          <a:xfrm>
            <a:off x="5163670" y="930554"/>
            <a:ext cx="506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Combination of 1 &amp; 3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2BE976-60D8-7017-645C-DEF517C708AA}"/>
              </a:ext>
            </a:extLst>
          </p:cNvPr>
          <p:cNvSpPr/>
          <p:nvPr/>
        </p:nvSpPr>
        <p:spPr>
          <a:xfrm>
            <a:off x="6840068" y="3845858"/>
            <a:ext cx="2967317" cy="12909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4B6CD34-1563-0ACA-1FF6-04D497C676FD}"/>
              </a:ext>
            </a:extLst>
          </p:cNvPr>
          <p:cNvCxnSpPr/>
          <p:nvPr/>
        </p:nvCxnSpPr>
        <p:spPr>
          <a:xfrm>
            <a:off x="7521389" y="4892955"/>
            <a:ext cx="18556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2AD177-A7CA-58B3-CD8F-AD7A05CFE7A7}"/>
              </a:ext>
            </a:extLst>
          </p:cNvPr>
          <p:cNvSpPr txBox="1"/>
          <p:nvPr/>
        </p:nvSpPr>
        <p:spPr>
          <a:xfrm>
            <a:off x="7268135" y="4681391"/>
            <a:ext cx="32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EE5E5-F488-2F75-3CBC-CB40F4EA447A}"/>
              </a:ext>
            </a:extLst>
          </p:cNvPr>
          <p:cNvSpPr txBox="1"/>
          <p:nvPr/>
        </p:nvSpPr>
        <p:spPr>
          <a:xfrm>
            <a:off x="9343465" y="4687695"/>
            <a:ext cx="32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4117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30D1-A90C-94E4-3D28-3A337D77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D28A-6549-797F-EB6C-8E2E68DD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43920" cy="769612"/>
          </a:xfrm>
        </p:spPr>
        <p:txBody>
          <a:bodyPr/>
          <a:lstStyle/>
          <a:p>
            <a:pPr algn="ctr"/>
            <a:r>
              <a:rPr lang="en-DE" dirty="0"/>
              <a:t>TMF Scale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F7BC-7CD0-6FCD-2510-E0A05AA2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44"/>
            <a:ext cx="10515600" cy="5539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Reliable unidimensional score: Cronbach’s </a:t>
            </a:r>
            <a:r>
              <a:rPr lang="el-GR" dirty="0"/>
              <a:t>α </a:t>
            </a:r>
            <a:r>
              <a:rPr lang="en-US" dirty="0"/>
              <a:t>= </a:t>
            </a:r>
            <a:r>
              <a:rPr lang="en-GB" b="1" dirty="0"/>
              <a:t>~.90</a:t>
            </a:r>
            <a:r>
              <a:rPr lang="en-GB" dirty="0"/>
              <a:t>.</a:t>
            </a:r>
          </a:p>
          <a:p>
            <a:r>
              <a:rPr lang="en-GB" b="1" dirty="0"/>
              <a:t>Internal consistency:</a:t>
            </a:r>
            <a:r>
              <a:rPr lang="en-GB" dirty="0"/>
              <a:t> TMF-F </a:t>
            </a:r>
            <a:r>
              <a:rPr lang="el-GR" dirty="0"/>
              <a:t>α ≈ </a:t>
            </a:r>
            <a:r>
              <a:rPr lang="el-GR" b="1" dirty="0"/>
              <a:t>0.90</a:t>
            </a:r>
            <a:r>
              <a:rPr lang="el-GR" dirty="0"/>
              <a:t> (6 </a:t>
            </a:r>
            <a:r>
              <a:rPr lang="en-GB" dirty="0"/>
              <a:t>items); TMF-M </a:t>
            </a:r>
            <a:r>
              <a:rPr lang="el-GR" dirty="0"/>
              <a:t>α ≈ </a:t>
            </a:r>
            <a:r>
              <a:rPr lang="el-GR" b="1" dirty="0"/>
              <a:t>0.89</a:t>
            </a:r>
            <a:r>
              <a:rPr lang="el-GR" dirty="0"/>
              <a:t> (6 </a:t>
            </a:r>
            <a:r>
              <a:rPr lang="en-GB" dirty="0"/>
              <a:t>items). </a:t>
            </a:r>
          </a:p>
          <a:p>
            <a:r>
              <a:rPr lang="en-GB" b="1" dirty="0"/>
              <a:t>Factor variance:</a:t>
            </a:r>
            <a:r>
              <a:rPr lang="en-GB" dirty="0"/>
              <a:t> first factor explained </a:t>
            </a:r>
            <a:r>
              <a:rPr lang="en-GB" b="1" dirty="0"/>
              <a:t>~57–61%</a:t>
            </a:r>
            <a:r>
              <a:rPr lang="en-GB" dirty="0"/>
              <a:t> of variance.</a:t>
            </a:r>
          </a:p>
          <a:p>
            <a:r>
              <a:rPr lang="en-GB" dirty="0"/>
              <a:t>Masculinity ratings and femininity ratings are </a:t>
            </a:r>
            <a:r>
              <a:rPr lang="en-GB" b="1" dirty="0"/>
              <a:t>highly negatively correlated</a:t>
            </a:r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0979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350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Previous Studies</vt:lpstr>
      <vt:lpstr>PowerPoint Presentation</vt:lpstr>
      <vt:lpstr>TMF Scale–  People’s self-ascribed “core” masculinity–femininity (their gender-role self-concept) .  </vt:lpstr>
      <vt:lpstr>Score Interpretations</vt:lpstr>
      <vt:lpstr>General Concept of Gender</vt:lpstr>
      <vt:lpstr>Dependent Variable: 4 options</vt:lpstr>
      <vt:lpstr>PowerPoint Presentation</vt:lpstr>
      <vt:lpstr>PowerPoint Presentation</vt:lpstr>
      <vt:lpstr>TMF Scale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Ислам Мд Хасибул</dc:creator>
  <cp:lastModifiedBy>Ислам Мд Хасибул</cp:lastModifiedBy>
  <cp:revision>24</cp:revision>
  <dcterms:created xsi:type="dcterms:W3CDTF">2025-11-24T10:05:36Z</dcterms:created>
  <dcterms:modified xsi:type="dcterms:W3CDTF">2025-11-25T16:37:53Z</dcterms:modified>
</cp:coreProperties>
</file>